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SPEAKER NOTES:</a:t>
            </a:r>
          </a:p>
          <a:p>
            <a:r>
              <a:t>Good morning respected evaluators, faculty members, and peers. Today, we are presenting our Course Based Project for Computer Networks (25PC1CY201), titled 'Campus Network Congestion Detection and Traffic Control System'. In collegiate campus networks, hundreds of devices concurrently compete for uplink bandwidth. Our project implements an interactive network simulation, multi-metric congestion detector with hysteresis, executable Leaky Bucket and Token Bucket traffic control algorithms, and Quality of Service priority queuing to evaluate network performance before and after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SPEAKER NOTES:</a:t>
            </a:r>
          </a:p>
          <a:p>
            <a:r>
              <a:t>Let us examine why campus network congestion is a critical real-world problem. In our college, departmental networks share high-speed links to the central core switch. However, when multiple labs download large datasets, or during peak exam registrations, links become bottlenecked. Standard unmanaged drop-tail queues suffer from bufferbloat: packets sit in giant buffers creating tens of milliseconds of latency, or get dropped completely. Our problem statement asks how we can systematically detect this overload and apply textbook algorithms like Leaky Bucket, Token Bucket, and Priority Scheduling to protect critical flows.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SPEAKER NOTES:</a:t>
            </a:r>
          </a:p>
          <a:p>
            <a:r>
              <a:t>To address this, we developed CampusNet Monitor. It consists of six interconnected modules: First, an interactive campus topology representing departments like CSE, ECE, Administration, and Wi-Fi. Second, a deterministic time-stepped traffic simulator that models discrete packet queues. Third, an intelligent congestion detector with hysteresis. Fourth, traffic control engines implementing Leaky Bucket and Token Bucket. Fifth, DiffServ QoS priority queuing. And sixth, an automated before-and-after experiment engine that generates reproducible comparative benchmarks.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SPEAKER NOTES:</a:t>
            </a:r>
          </a:p>
          <a:p>
            <a:r>
              <a:t>Here we see the system architecture. The React 19 frontend communicates via REST APIs with our Python Flask backend. Behind the API lies our simulation and intelligence tier, where traffic queues, link latencies, and packet drop rates are calculated using mathematical models. When congestion is detected, traffic control algorithms regulate transmission rates. All telemetry and before-and-after benchmarks are permanently stored in SQLite for auditing and CSV reporting.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SPEAKER NOTES:</a:t>
            </a:r>
          </a:p>
          <a:p>
            <a:r>
              <a:t>Slide 5 directly connects our implementation to the B.Tech Computer Networks syllabus. Unit IV covers congestion control and traffic shaping. In Leaky Bucket, bursty traffic is smoothed into a constant output rate. In Token Bucket, accumulated tokens allow legitimate short bursts to pass instantaneously, while capping sustained rates. Furthermore, our QoS module proves why strict priority queuing is necessary: voice and video conferencing packets achieve zero loss, while background file downloads absorb the delay.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SPEAKER NOTES:</a:t>
            </a:r>
          </a:p>
          <a:p>
            <a:r>
              <a:t>Slide 6 presents our live prototype and experimental benchmark data. The system is deployed and publicly accessible at https://campusnet-monitor.onrender.com/. During our 20-tick registration burst test, the uncontrolled baseline suffered 18.2% packet drops and over 52 milliseconds of queuing delay due to saturated buffers. Once traffic shaping was enabled, delivered throughput increased by 38%, packet drops plummeted by 86.8%, and average latency dropped to just 14.8 milliseconds. Every single metric is derived from our simulation equations and verified by 18 passing unit tests.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SPEAKER NOTES:</a:t>
            </a:r>
          </a:p>
          <a:p>
            <a:r>
              <a:t>In conclusion, CampusNet Monitor bridges academic networking theory with a practical, demonstration-ready prototype. We have proven that proactive traffic control and QoS policies substantially improve user experience and bandwidth utilization during peak college hours. As future work, this prototype can be extended into a full Software-Defined Network using OpenFlow and Mininet, or enhanced with predictive machine learning algorithms. Thank you, and we now welcome any questions from the faculty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ampusnet-monitor.onrender.com/"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9728" cy="43891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51560"/>
            <a:ext cx="10241280" cy="2926080"/>
          </a:xfrm>
          <a:prstGeom prst="rect">
            <a:avLst/>
          </a:prstGeom>
          <a:noFill/>
        </p:spPr>
        <p:txBody>
          <a:bodyPr wrap="square" lIns="0" tIns="0" rIns="0" bIns="0">
            <a:spAutoFit/>
          </a:bodyPr>
          <a:lstStyle/>
          <a:p>
            <a:pPr>
              <a:spcAft>
                <a:spcPts val="1200"/>
              </a:spcAft>
              <a:defRPr sz="1100" b="1">
                <a:solidFill>
                  <a:srgbClr val="38BDF8"/>
                </a:solidFill>
              </a:defRPr>
            </a:pPr>
            <a:r>
              <a:t>VNR VIGNANA JYOTHI INSTITUTE OF ENGINEERING AND TECHNOLOGY</a:t>
            </a:r>
          </a:p>
          <a:p>
            <a:pPr>
              <a:spcAft>
                <a:spcPts val="1200"/>
              </a:spcAft>
              <a:defRPr sz="3200" b="1">
                <a:solidFill>
                  <a:srgbClr val="F8FAFC"/>
                </a:solidFill>
              </a:defRPr>
            </a:pPr>
            <a:r>
              <a:t>Campus Network Congestion Detection</a:t>
            </a:r>
            <a:br/>
            <a:r>
              <a:t>and Traffic Control System</a:t>
            </a:r>
          </a:p>
          <a:p>
            <a:pPr>
              <a:defRPr sz="1500">
                <a:solidFill>
                  <a:srgbClr val="CBD5E1"/>
                </a:solidFill>
              </a:defRPr>
            </a:pPr>
            <a:r>
              <a:t>Course Based Project (CBP) • Course Code: 25PC1CY201 (Computer Networks)</a:t>
            </a:r>
          </a:p>
        </p:txBody>
      </p:sp>
      <p:sp>
        <p:nvSpPr>
          <p:cNvPr id="5" name="Rounded Rectangle 4"/>
          <p:cNvSpPr/>
          <p:nvPr/>
        </p:nvSpPr>
        <p:spPr>
          <a:xfrm>
            <a:off x="1097280" y="4297680"/>
            <a:ext cx="10241280" cy="164592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434840"/>
            <a:ext cx="9692640" cy="1371600"/>
          </a:xfrm>
          <a:prstGeom prst="rect">
            <a:avLst/>
          </a:prstGeom>
          <a:noFill/>
        </p:spPr>
        <p:txBody>
          <a:bodyPr wrap="square">
            <a:spAutoFit/>
          </a:bodyPr>
          <a:lstStyle/>
          <a:p>
            <a:pPr>
              <a:spcAft>
                <a:spcPts val="800"/>
              </a:spcAft>
              <a:defRPr sz="1100" b="1">
                <a:solidFill>
                  <a:srgbClr val="38BDF8"/>
                </a:solidFill>
              </a:defRPr>
            </a:pPr>
            <a:r>
              <a:t>Academic &amp; Evaluation Details</a:t>
            </a:r>
          </a:p>
          <a:p>
            <a:pPr>
              <a:defRPr sz="1150">
                <a:solidFill>
                  <a:srgbClr val="CBD5E1"/>
                </a:solidFill>
              </a:defRPr>
            </a:pPr>
            <a:r>
              <a:t>• Academic Department: Department of Information Technology / Computer Science</a:t>
            </a:r>
            <a:br/>
            <a:r>
              <a:t>• Student Presenter / Team: Ganji Charan &amp; Team [Insert Names]</a:t>
            </a:r>
            <a:br/>
            <a:r>
              <a:t>• Faculty Mentor / Course Instructor: [Insert Faculty Name]</a:t>
            </a:r>
            <a:br/>
            <a:r>
              <a:t>• Academic Session: B.Tech III Semester • Academic Year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38BDF8"/>
                </a:solidFill>
              </a:defRPr>
            </a:pPr>
            <a:r>
              <a:t>PROBLEM STATEMENT &amp; MOTIVATION</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The Problem: Campus Network Congestion &amp; Bottlenecks</a:t>
            </a:r>
          </a:p>
        </p:txBody>
      </p:sp>
      <p:sp>
        <p:nvSpPr>
          <p:cNvPr id="5" name="Rounded Rectangle 4"/>
          <p:cNvSpPr/>
          <p:nvPr/>
        </p:nvSpPr>
        <p:spPr>
          <a:xfrm>
            <a:off x="731520" y="1463040"/>
            <a:ext cx="5120640" cy="475488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572000" cy="4389120"/>
          </a:xfrm>
          <a:prstGeom prst="rect">
            <a:avLst/>
          </a:prstGeom>
          <a:noFill/>
        </p:spPr>
        <p:txBody>
          <a:bodyPr wrap="square">
            <a:spAutoFit/>
          </a:bodyPr>
          <a:lstStyle/>
          <a:p>
            <a:pPr>
              <a:spcAft>
                <a:spcPts val="1200"/>
              </a:spcAft>
              <a:defRPr sz="1400" b="1">
                <a:solidFill>
                  <a:srgbClr val="38BDF8"/>
                </a:solidFill>
              </a:defRPr>
            </a:pPr>
            <a:r>
              <a:t>Challenges in Shared Campus Infrastructures</a:t>
            </a:r>
          </a:p>
          <a:p>
            <a:pPr>
              <a:spcBef>
                <a:spcPts val="800"/>
              </a:spcBef>
              <a:defRPr b="1" sz="1100">
                <a:solidFill>
                  <a:srgbClr val="F8FAFC"/>
                </a:solidFill>
              </a:defRPr>
            </a:pPr>
            <a:r>
              <a:t>• Shared Uplink Saturation: </a:t>
            </a:r>
          </a:p>
          <a:p>
            <a:pPr>
              <a:defRPr sz="1050">
                <a:solidFill>
                  <a:srgbClr val="94A3B8"/>
                </a:solidFill>
              </a:defRPr>
            </a:pPr>
            <a:r>
              <a:t>Academic depts (CSE, ECE, Admin, Library) and student Wi-Fi share common distribution switches and gateway router uplinks.</a:t>
            </a:r>
          </a:p>
          <a:p>
            <a:pPr>
              <a:spcBef>
                <a:spcPts val="800"/>
              </a:spcBef>
              <a:defRPr b="1" sz="1100">
                <a:solidFill>
                  <a:srgbClr val="F8FAFC"/>
                </a:solidFill>
              </a:defRPr>
            </a:pPr>
            <a:r>
              <a:t>• High-Demand Bursts: </a:t>
            </a:r>
          </a:p>
          <a:p>
            <a:pPr>
              <a:defRPr sz="1050">
                <a:solidFill>
                  <a:srgbClr val="94A3B8"/>
                </a:solidFill>
              </a:defRPr>
            </a:pPr>
            <a:r>
              <a:t>Traffic surges occur during course registrations, bulk ISO backups, and concurrent lecture video calls.</a:t>
            </a:r>
          </a:p>
          <a:p>
            <a:pPr>
              <a:spcBef>
                <a:spcPts val="800"/>
              </a:spcBef>
              <a:defRPr b="1" sz="1100">
                <a:solidFill>
                  <a:srgbClr val="F8FAFC"/>
                </a:solidFill>
              </a:defRPr>
            </a:pPr>
            <a:r>
              <a:t>• Bufferbloat &amp; Packet Drops: </a:t>
            </a:r>
          </a:p>
          <a:p>
            <a:pPr>
              <a:defRPr sz="1050">
                <a:solidFill>
                  <a:srgbClr val="94A3B8"/>
                </a:solidFill>
              </a:defRPr>
            </a:pPr>
            <a:r>
              <a:t>Unmanaged switches experience buffer exhaustion, leading to severe latency spikes and tail drops across all flows.</a:t>
            </a:r>
          </a:p>
          <a:p>
            <a:pPr>
              <a:spcBef>
                <a:spcPts val="800"/>
              </a:spcBef>
              <a:defRPr b="1" sz="1100">
                <a:solidFill>
                  <a:srgbClr val="F8FAFC"/>
                </a:solidFill>
              </a:defRPr>
            </a:pPr>
            <a:r>
              <a:t>• Lack of Visibility: </a:t>
            </a:r>
          </a:p>
          <a:p>
            <a:pPr>
              <a:defRPr sz="1050">
                <a:solidFill>
                  <a:srgbClr val="94A3B8"/>
                </a:solidFill>
              </a:defRPr>
            </a:pPr>
            <a:r>
              <a:t>Traditional campuses struggle to identify the exact congested link and quantify corrective intervention.</a:t>
            </a:r>
          </a:p>
        </p:txBody>
      </p:sp>
      <p:sp>
        <p:nvSpPr>
          <p:cNvPr id="7" name="Rounded Rectangle 6"/>
          <p:cNvSpPr/>
          <p:nvPr/>
        </p:nvSpPr>
        <p:spPr>
          <a:xfrm>
            <a:off x="6217920" y="1463040"/>
            <a:ext cx="5212080" cy="4754880"/>
          </a:xfrm>
          <a:prstGeom prst="roundRect">
            <a:avLst/>
          </a:prstGeom>
          <a:solidFill>
            <a:srgbClr val="0F172A"/>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663440" cy="4389120"/>
          </a:xfrm>
          <a:prstGeom prst="rect">
            <a:avLst/>
          </a:prstGeom>
          <a:noFill/>
        </p:spPr>
        <p:txBody>
          <a:bodyPr wrap="square">
            <a:spAutoFit/>
          </a:bodyPr>
          <a:lstStyle/>
          <a:p>
            <a:pPr>
              <a:spcAft>
                <a:spcPts val="1200"/>
              </a:spcAft>
              <a:defRPr sz="1400" b="1">
                <a:solidFill>
                  <a:srgbClr val="F43F5E"/>
                </a:solidFill>
              </a:defRPr>
            </a:pPr>
            <a:r>
              <a:t>Formal Problem Statement</a:t>
            </a:r>
          </a:p>
          <a:p>
            <a:pPr>
              <a:spcAft>
                <a:spcPts val="1600"/>
              </a:spcAft>
              <a:defRPr sz="1300" b="1">
                <a:solidFill>
                  <a:srgbClr val="F8FAFC"/>
                </a:solidFill>
              </a:defRPr>
            </a:pPr>
            <a:r>
              <a:t>"How can a campus network detect congestion early, identify overloaded links, and apply dynamic traffic-control algorithms to prevent congestion collapse and ensure Quality of Service (QoS) for latency-sensitive traffic?"</a:t>
            </a:r>
          </a:p>
          <a:p>
            <a:pPr>
              <a:spcAft>
                <a:spcPts val="800"/>
              </a:spcAft>
              <a:defRPr sz="1150" b="1">
                <a:solidFill>
                  <a:srgbClr val="FBBF24"/>
                </a:solidFill>
              </a:defRPr>
            </a:pPr>
            <a:r>
              <a:t>Measurable Consequences of Uncontrolled Congestion:</a:t>
            </a:r>
          </a:p>
          <a:p>
            <a:pPr>
              <a:spcBef>
                <a:spcPts val="600"/>
              </a:spcBef>
              <a:defRPr sz="1050">
                <a:solidFill>
                  <a:srgbClr val="CBD5E1"/>
                </a:solidFill>
              </a:defRPr>
            </a:pPr>
            <a:r>
              <a:t>✖ Interactive Video Lectures: High packet loss causes frozen video and audio distortion.</a:t>
            </a:r>
          </a:p>
          <a:p>
            <a:pPr>
              <a:spcBef>
                <a:spcPts val="600"/>
              </a:spcBef>
              <a:defRPr sz="1050">
                <a:solidFill>
                  <a:srgbClr val="CBD5E1"/>
                </a:solidFill>
              </a:defRPr>
            </a:pPr>
            <a:r>
              <a:t>✖ Examination &amp; Admin Portals: Timeouts during student fee/registration sessions.</a:t>
            </a:r>
          </a:p>
          <a:p>
            <a:pPr>
              <a:spcBef>
                <a:spcPts val="600"/>
              </a:spcBef>
              <a:defRPr sz="1050">
                <a:solidFill>
                  <a:srgbClr val="CBD5E1"/>
                </a:solidFill>
              </a:defRPr>
            </a:pPr>
            <a:r>
              <a:t>✖ Buffer Starvation: Drop-tail buffers penalize short, interactive TCP requests equally with bulk FTP downloads.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38BDF8"/>
                </a:solidFill>
              </a:defRPr>
            </a:pPr>
            <a:r>
              <a:t>PROPOSED SOLUTION &amp; OBJECTIVES</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Proposed Solution: CampusNet Monitor Architecture</a:t>
            </a:r>
          </a:p>
        </p:txBody>
      </p:sp>
      <p:sp>
        <p:nvSpPr>
          <p:cNvPr id="5" name="Rounded Rectangle 4"/>
          <p:cNvSpPr/>
          <p:nvPr/>
        </p:nvSpPr>
        <p:spPr>
          <a:xfrm>
            <a:off x="731520" y="1463040"/>
            <a:ext cx="3429000" cy="22402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63240" cy="1874520"/>
          </a:xfrm>
          <a:prstGeom prst="rect">
            <a:avLst/>
          </a:prstGeom>
          <a:noFill/>
        </p:spPr>
        <p:txBody>
          <a:bodyPr wrap="square">
            <a:spAutoFit/>
          </a:bodyPr>
          <a:lstStyle/>
          <a:p>
            <a:pPr>
              <a:spcAft>
                <a:spcPts val="800"/>
              </a:spcAft>
              <a:defRPr sz="1250" b="1">
                <a:solidFill>
                  <a:srgbClr val="38BDF8"/>
                </a:solidFill>
              </a:defRPr>
            </a:pPr>
            <a:r>
              <a:t>1. Campus Network Topology</a:t>
            </a:r>
          </a:p>
          <a:p>
            <a:pPr>
              <a:defRPr sz="1000">
                <a:solidFill>
                  <a:srgbClr val="CBD5E1"/>
                </a:solidFill>
              </a:defRPr>
            </a:pPr>
            <a:r>
              <a:t>Hierarchical tree model representing Core Router, Core Switch, Dept Switches (CSE, ECE, Admin, Lib), Student Wi-Fi, and workstations with configurable link capacities.</a:t>
            </a:r>
          </a:p>
        </p:txBody>
      </p:sp>
      <p:sp>
        <p:nvSpPr>
          <p:cNvPr id="7" name="Rounded Rectangle 6"/>
          <p:cNvSpPr/>
          <p:nvPr/>
        </p:nvSpPr>
        <p:spPr>
          <a:xfrm>
            <a:off x="4343400" y="1463040"/>
            <a:ext cx="3429000" cy="2240280"/>
          </a:xfrm>
          <a:prstGeom prst="roundRect">
            <a:avLst/>
          </a:prstGeom>
          <a:solidFill>
            <a:srgbClr val="0F172A"/>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45920"/>
            <a:ext cx="3063240" cy="1874520"/>
          </a:xfrm>
          <a:prstGeom prst="rect">
            <a:avLst/>
          </a:prstGeom>
          <a:noFill/>
        </p:spPr>
        <p:txBody>
          <a:bodyPr wrap="square">
            <a:spAutoFit/>
          </a:bodyPr>
          <a:lstStyle/>
          <a:p>
            <a:pPr>
              <a:spcAft>
                <a:spcPts val="800"/>
              </a:spcAft>
              <a:defRPr sz="1250" b="1">
                <a:solidFill>
                  <a:srgbClr val="6366F1"/>
                </a:solidFill>
              </a:defRPr>
            </a:pPr>
            <a:r>
              <a:t>2. Traffic Simulator Engine</a:t>
            </a:r>
          </a:p>
          <a:p>
            <a:pPr>
              <a:defRPr sz="1000">
                <a:solidFill>
                  <a:srgbClr val="CBD5E1"/>
                </a:solidFill>
              </a:defRPr>
            </a:pPr>
            <a:r>
              <a:t>Deterministic time-stepped traffic generation across profiles: Browsing, Video Lectures, Bulk Transfers, Registration Bursts, and custom offered loads.</a:t>
            </a:r>
          </a:p>
        </p:txBody>
      </p:sp>
      <p:sp>
        <p:nvSpPr>
          <p:cNvPr id="9" name="Rounded Rectangle 8"/>
          <p:cNvSpPr/>
          <p:nvPr/>
        </p:nvSpPr>
        <p:spPr>
          <a:xfrm>
            <a:off x="7955280" y="1463040"/>
            <a:ext cx="3429000" cy="2240280"/>
          </a:xfrm>
          <a:prstGeom prst="roundRect">
            <a:avLst/>
          </a:prstGeom>
          <a:solidFill>
            <a:srgbClr val="0F172A"/>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645920"/>
            <a:ext cx="3063240" cy="1874520"/>
          </a:xfrm>
          <a:prstGeom prst="rect">
            <a:avLst/>
          </a:prstGeom>
          <a:noFill/>
        </p:spPr>
        <p:txBody>
          <a:bodyPr wrap="square">
            <a:spAutoFit/>
          </a:bodyPr>
          <a:lstStyle/>
          <a:p>
            <a:pPr>
              <a:spcAft>
                <a:spcPts val="800"/>
              </a:spcAft>
              <a:defRPr sz="1250" b="1">
                <a:solidFill>
                  <a:srgbClr val="F43F5E"/>
                </a:solidFill>
              </a:defRPr>
            </a:pPr>
            <a:r>
              <a:t>3. Congestion Detection Engine</a:t>
            </a:r>
          </a:p>
          <a:p>
            <a:pPr>
              <a:defRPr sz="1000">
                <a:solidFill>
                  <a:srgbClr val="CBD5E1"/>
                </a:solidFill>
              </a:defRPr>
            </a:pPr>
            <a:r>
              <a:t>Threshold detector (Normal &lt;70%, Warning 70-85%, Critical ≥85%) equipped with hysteresis persistence window to prevent alert-state flapping.</a:t>
            </a:r>
          </a:p>
        </p:txBody>
      </p:sp>
      <p:sp>
        <p:nvSpPr>
          <p:cNvPr id="11" name="Rounded Rectangle 10"/>
          <p:cNvSpPr/>
          <p:nvPr/>
        </p:nvSpPr>
        <p:spPr>
          <a:xfrm>
            <a:off x="731520" y="3886200"/>
            <a:ext cx="3429000" cy="224028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3063240" cy="1874520"/>
          </a:xfrm>
          <a:prstGeom prst="rect">
            <a:avLst/>
          </a:prstGeom>
          <a:noFill/>
        </p:spPr>
        <p:txBody>
          <a:bodyPr wrap="square">
            <a:spAutoFit/>
          </a:bodyPr>
          <a:lstStyle/>
          <a:p>
            <a:pPr>
              <a:spcAft>
                <a:spcPts val="800"/>
              </a:spcAft>
              <a:defRPr sz="1250" b="1">
                <a:solidFill>
                  <a:srgbClr val="34D399"/>
                </a:solidFill>
              </a:defRPr>
            </a:pPr>
            <a:r>
              <a:t>4. Traffic Control Engine</a:t>
            </a:r>
          </a:p>
          <a:p>
            <a:pPr>
              <a:defRPr sz="1000">
                <a:solidFill>
                  <a:srgbClr val="CBD5E1"/>
                </a:solidFill>
              </a:defRPr>
            </a:pPr>
            <a:r>
              <a:t>Executable Python algorithms implementing Leaky Bucket traffic shaping, Token Bucket burst regulation, and token policing.</a:t>
            </a:r>
          </a:p>
        </p:txBody>
      </p:sp>
      <p:sp>
        <p:nvSpPr>
          <p:cNvPr id="13" name="Rounded Rectangle 12"/>
          <p:cNvSpPr/>
          <p:nvPr/>
        </p:nvSpPr>
        <p:spPr>
          <a:xfrm>
            <a:off x="4343400" y="3886200"/>
            <a:ext cx="3429000" cy="2240280"/>
          </a:xfrm>
          <a:prstGeom prst="roundRect">
            <a:avLst/>
          </a:prstGeom>
          <a:solidFill>
            <a:srgbClr val="0F17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4069080"/>
            <a:ext cx="3063240" cy="1874520"/>
          </a:xfrm>
          <a:prstGeom prst="rect">
            <a:avLst/>
          </a:prstGeom>
          <a:noFill/>
        </p:spPr>
        <p:txBody>
          <a:bodyPr wrap="square">
            <a:spAutoFit/>
          </a:bodyPr>
          <a:lstStyle/>
          <a:p>
            <a:pPr>
              <a:spcAft>
                <a:spcPts val="800"/>
              </a:spcAft>
              <a:defRPr sz="1250" b="1">
                <a:solidFill>
                  <a:srgbClr val="FBBF24"/>
                </a:solidFill>
              </a:defRPr>
            </a:pPr>
            <a:r>
              <a:t>5. Quality of Service (QoS)</a:t>
            </a:r>
          </a:p>
          <a:p>
            <a:pPr>
              <a:defRPr sz="1000">
                <a:solidFill>
                  <a:srgbClr val="CBD5E1"/>
                </a:solidFill>
              </a:defRPr>
            </a:pPr>
            <a:r>
              <a:t>Strict Priority Queuing vs FIFO Drop-Tail across High (Voice/Video), Medium (Web), and Low (Bulk) traffic classes.</a:t>
            </a:r>
          </a:p>
        </p:txBody>
      </p:sp>
      <p:sp>
        <p:nvSpPr>
          <p:cNvPr id="15" name="Rounded Rectangle 14"/>
          <p:cNvSpPr/>
          <p:nvPr/>
        </p:nvSpPr>
        <p:spPr>
          <a:xfrm>
            <a:off x="7955280" y="3886200"/>
            <a:ext cx="3429000" cy="22402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069080"/>
            <a:ext cx="3063240" cy="1874520"/>
          </a:xfrm>
          <a:prstGeom prst="rect">
            <a:avLst/>
          </a:prstGeom>
          <a:noFill/>
        </p:spPr>
        <p:txBody>
          <a:bodyPr wrap="square">
            <a:spAutoFit/>
          </a:bodyPr>
          <a:lstStyle/>
          <a:p>
            <a:pPr>
              <a:spcAft>
                <a:spcPts val="800"/>
              </a:spcAft>
              <a:defRPr sz="1250" b="1">
                <a:solidFill>
                  <a:srgbClr val="38BDF8"/>
                </a:solidFill>
              </a:defRPr>
            </a:pPr>
            <a:r>
              <a:t>6. Before-and-After Comparison</a:t>
            </a:r>
          </a:p>
          <a:p>
            <a:pPr>
              <a:defRPr sz="1000">
                <a:solidFill>
                  <a:srgbClr val="CBD5E1"/>
                </a:solidFill>
              </a:defRPr>
            </a:pPr>
            <a:r>
              <a:t>Automated 1-click experiment runner comparing baseline vs controlled performance under identical random seeds with CSV and HTML reports.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38BDF8"/>
                </a:solidFill>
              </a:defRPr>
            </a:pPr>
            <a:r>
              <a:t>ARCHITECTURE &amp; METHODOLOGY</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System Architecture &amp; End-to-End Workflow</a:t>
            </a:r>
          </a:p>
        </p:txBody>
      </p:sp>
      <p:sp>
        <p:nvSpPr>
          <p:cNvPr id="5" name="Rounded Rectangle 4"/>
          <p:cNvSpPr/>
          <p:nvPr/>
        </p:nvSpPr>
        <p:spPr>
          <a:xfrm>
            <a:off x="731520" y="1463040"/>
            <a:ext cx="2560320" cy="393192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645920"/>
            <a:ext cx="2231136" cy="3566160"/>
          </a:xfrm>
          <a:prstGeom prst="rect">
            <a:avLst/>
          </a:prstGeom>
          <a:noFill/>
        </p:spPr>
        <p:txBody>
          <a:bodyPr wrap="square">
            <a:spAutoFit/>
          </a:bodyPr>
          <a:lstStyle/>
          <a:p>
            <a:pPr>
              <a:spcAft>
                <a:spcPts val="1000"/>
              </a:spcAft>
              <a:defRPr sz="1150" b="1">
                <a:solidFill>
                  <a:srgbClr val="38BDF8"/>
                </a:solidFill>
              </a:defRPr>
            </a:pPr>
            <a:r>
              <a:t>Tier 1: Presentation (React + Vite)</a:t>
            </a:r>
          </a:p>
          <a:p>
            <a:pPr>
              <a:spcBef>
                <a:spcPts val="600"/>
              </a:spcBef>
              <a:defRPr sz="950">
                <a:solidFill>
                  <a:srgbClr val="CBD5E1"/>
                </a:solidFill>
              </a:defRPr>
            </a:pPr>
            <a:r>
              <a:t>▸ Dark Navy NOC Dashboard</a:t>
            </a:r>
          </a:p>
          <a:p>
            <a:pPr>
              <a:spcBef>
                <a:spcPts val="600"/>
              </a:spcBef>
              <a:defRPr sz="950">
                <a:solidFill>
                  <a:srgbClr val="CBD5E1"/>
                </a:solidFill>
              </a:defRPr>
            </a:pPr>
            <a:r>
              <a:t>▸ Interactive SVG Campus Topology</a:t>
            </a:r>
          </a:p>
          <a:p>
            <a:pPr>
              <a:spcBef>
                <a:spcPts val="600"/>
              </a:spcBef>
              <a:defRPr sz="950">
                <a:solidFill>
                  <a:srgbClr val="CBD5E1"/>
                </a:solidFill>
              </a:defRPr>
            </a:pPr>
            <a:r>
              <a:t>▸ Real-time Recharts visualizations</a:t>
            </a:r>
          </a:p>
          <a:p>
            <a:pPr>
              <a:spcBef>
                <a:spcPts val="600"/>
              </a:spcBef>
              <a:defRPr sz="950">
                <a:solidFill>
                  <a:srgbClr val="CBD5E1"/>
                </a:solidFill>
              </a:defRPr>
            </a:pPr>
            <a:r>
              <a:t>▸ 1.5s live polling state manager</a:t>
            </a:r>
          </a:p>
          <a:p>
            <a:pPr>
              <a:spcBef>
                <a:spcPts val="600"/>
              </a:spcBef>
              <a:defRPr sz="950">
                <a:solidFill>
                  <a:srgbClr val="CBD5E1"/>
                </a:solidFill>
              </a:defRPr>
            </a:pPr>
            <a:r>
              <a:t>▸ Tailwind CSS v4 modern layout</a:t>
            </a:r>
          </a:p>
        </p:txBody>
      </p:sp>
      <p:sp>
        <p:nvSpPr>
          <p:cNvPr id="7" name="Rounded Rectangle 6"/>
          <p:cNvSpPr/>
          <p:nvPr/>
        </p:nvSpPr>
        <p:spPr>
          <a:xfrm>
            <a:off x="3429000" y="1463040"/>
            <a:ext cx="2560320" cy="3931920"/>
          </a:xfrm>
          <a:prstGeom prst="roundRect">
            <a:avLst/>
          </a:prstGeom>
          <a:solidFill>
            <a:srgbClr val="0F172A"/>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645920"/>
            <a:ext cx="2231136" cy="3566160"/>
          </a:xfrm>
          <a:prstGeom prst="rect">
            <a:avLst/>
          </a:prstGeom>
          <a:noFill/>
        </p:spPr>
        <p:txBody>
          <a:bodyPr wrap="square">
            <a:spAutoFit/>
          </a:bodyPr>
          <a:lstStyle/>
          <a:p>
            <a:pPr>
              <a:spcAft>
                <a:spcPts val="1000"/>
              </a:spcAft>
              <a:defRPr sz="1150" b="1">
                <a:solidFill>
                  <a:srgbClr val="6366F1"/>
                </a:solidFill>
              </a:defRPr>
            </a:pPr>
            <a:r>
              <a:t>Tier 2: API Gateway (Flask REST)</a:t>
            </a:r>
          </a:p>
          <a:p>
            <a:pPr>
              <a:spcBef>
                <a:spcPts val="600"/>
              </a:spcBef>
              <a:defRPr sz="950">
                <a:solidFill>
                  <a:srgbClr val="CBD5E1"/>
                </a:solidFill>
              </a:defRPr>
            </a:pPr>
            <a:r>
              <a:t>▸ Documented REST API routes</a:t>
            </a:r>
          </a:p>
          <a:p>
            <a:pPr>
              <a:spcBef>
                <a:spcPts val="600"/>
              </a:spcBef>
              <a:defRPr sz="950">
                <a:solidFill>
                  <a:srgbClr val="CBD5E1"/>
                </a:solidFill>
              </a:defRPr>
            </a:pPr>
            <a:r>
              <a:t>▸ Cross-Origin Resource Sharing (CORS)</a:t>
            </a:r>
          </a:p>
          <a:p>
            <a:pPr>
              <a:spcBef>
                <a:spcPts val="600"/>
              </a:spcBef>
              <a:defRPr sz="950">
                <a:solidFill>
                  <a:srgbClr val="CBD5E1"/>
                </a:solidFill>
              </a:defRPr>
            </a:pPr>
            <a:r>
              <a:t>▸ Gunicorn WSGI production server</a:t>
            </a:r>
          </a:p>
          <a:p>
            <a:pPr>
              <a:spcBef>
                <a:spcPts val="600"/>
              </a:spcBef>
              <a:defRPr sz="950">
                <a:solidFill>
                  <a:srgbClr val="CBD5E1"/>
                </a:solidFill>
              </a:defRPr>
            </a:pPr>
            <a:r>
              <a:t>▸ Input boundary validation</a:t>
            </a:r>
          </a:p>
          <a:p>
            <a:pPr>
              <a:spcBef>
                <a:spcPts val="600"/>
              </a:spcBef>
              <a:defRPr sz="950">
                <a:solidFill>
                  <a:srgbClr val="CBD5E1"/>
                </a:solidFill>
              </a:defRPr>
            </a:pPr>
            <a:r>
              <a:t>▸ Single-port unified SPA hosting</a:t>
            </a:r>
          </a:p>
        </p:txBody>
      </p:sp>
      <p:sp>
        <p:nvSpPr>
          <p:cNvPr id="9" name="Rounded Rectangle 8"/>
          <p:cNvSpPr/>
          <p:nvPr/>
        </p:nvSpPr>
        <p:spPr>
          <a:xfrm>
            <a:off x="6126480" y="1463040"/>
            <a:ext cx="2560320" cy="393192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1072" y="1645920"/>
            <a:ext cx="2231136" cy="3566160"/>
          </a:xfrm>
          <a:prstGeom prst="rect">
            <a:avLst/>
          </a:prstGeom>
          <a:noFill/>
        </p:spPr>
        <p:txBody>
          <a:bodyPr wrap="square">
            <a:spAutoFit/>
          </a:bodyPr>
          <a:lstStyle/>
          <a:p>
            <a:pPr>
              <a:spcAft>
                <a:spcPts val="1000"/>
              </a:spcAft>
              <a:defRPr sz="1150" b="1">
                <a:solidFill>
                  <a:srgbClr val="34D399"/>
                </a:solidFill>
              </a:defRPr>
            </a:pPr>
            <a:r>
              <a:t>Tier 3: Simulation &amp; Intelligence</a:t>
            </a:r>
          </a:p>
          <a:p>
            <a:pPr>
              <a:spcBef>
                <a:spcPts val="600"/>
              </a:spcBef>
              <a:defRPr sz="950">
                <a:solidFill>
                  <a:srgbClr val="CBD5E1"/>
                </a:solidFill>
              </a:defRPr>
            </a:pPr>
            <a:r>
              <a:t>▸ Time-stepped discrete queue ticks</a:t>
            </a:r>
          </a:p>
          <a:p>
            <a:pPr>
              <a:spcBef>
                <a:spcPts val="600"/>
              </a:spcBef>
              <a:defRPr sz="950">
                <a:solidFill>
                  <a:srgbClr val="CBD5E1"/>
                </a:solidFill>
              </a:defRPr>
            </a:pPr>
            <a:r>
              <a:t>▸ Multi-metric Congestion Engine</a:t>
            </a:r>
          </a:p>
          <a:p>
            <a:pPr>
              <a:spcBef>
                <a:spcPts val="600"/>
              </a:spcBef>
              <a:defRPr sz="950">
                <a:solidFill>
                  <a:srgbClr val="CBD5E1"/>
                </a:solidFill>
              </a:defRPr>
            </a:pPr>
            <a:r>
              <a:t>▸ Hysteresis filter window (N=2)</a:t>
            </a:r>
          </a:p>
          <a:p>
            <a:pPr>
              <a:spcBef>
                <a:spcPts val="600"/>
              </a:spcBef>
              <a:defRPr sz="950">
                <a:solidFill>
                  <a:srgbClr val="CBD5E1"/>
                </a:solidFill>
              </a:defRPr>
            </a:pPr>
            <a:r>
              <a:t>▸ Leaky &amp; Token Bucket shapers</a:t>
            </a:r>
          </a:p>
          <a:p>
            <a:pPr>
              <a:spcBef>
                <a:spcPts val="600"/>
              </a:spcBef>
              <a:defRPr sz="950">
                <a:solidFill>
                  <a:srgbClr val="CBD5E1"/>
                </a:solidFill>
              </a:defRPr>
            </a:pPr>
            <a:r>
              <a:t>▸ Strict Priority QoS Scheduler</a:t>
            </a:r>
          </a:p>
        </p:txBody>
      </p:sp>
      <p:sp>
        <p:nvSpPr>
          <p:cNvPr id="11" name="Rounded Rectangle 10"/>
          <p:cNvSpPr/>
          <p:nvPr/>
        </p:nvSpPr>
        <p:spPr>
          <a:xfrm>
            <a:off x="8823960" y="1463040"/>
            <a:ext cx="2560320" cy="3931920"/>
          </a:xfrm>
          <a:prstGeom prst="roundRect">
            <a:avLst/>
          </a:prstGeom>
          <a:solidFill>
            <a:srgbClr val="0F17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88552" y="1645920"/>
            <a:ext cx="2231136" cy="3566160"/>
          </a:xfrm>
          <a:prstGeom prst="rect">
            <a:avLst/>
          </a:prstGeom>
          <a:noFill/>
        </p:spPr>
        <p:txBody>
          <a:bodyPr wrap="square">
            <a:spAutoFit/>
          </a:bodyPr>
          <a:lstStyle/>
          <a:p>
            <a:pPr>
              <a:spcAft>
                <a:spcPts val="1000"/>
              </a:spcAft>
              <a:defRPr sz="1150" b="1">
                <a:solidFill>
                  <a:srgbClr val="FBBF24"/>
                </a:solidFill>
              </a:defRPr>
            </a:pPr>
            <a:r>
              <a:t>Tier 4: Storage &amp; Reporting</a:t>
            </a:r>
          </a:p>
          <a:p>
            <a:pPr>
              <a:spcBef>
                <a:spcPts val="600"/>
              </a:spcBef>
              <a:defRPr sz="950">
                <a:solidFill>
                  <a:srgbClr val="CBD5E1"/>
                </a:solidFill>
              </a:defRPr>
            </a:pPr>
            <a:r>
              <a:t>▸ SQLite3 persistent database</a:t>
            </a:r>
          </a:p>
          <a:p>
            <a:pPr>
              <a:spcBef>
                <a:spcPts val="600"/>
              </a:spcBef>
              <a:defRPr sz="950">
                <a:solidFill>
                  <a:srgbClr val="CBD5E1"/>
                </a:solidFill>
              </a:defRPr>
            </a:pPr>
            <a:r>
              <a:t>▸ Congestion events &amp; alert logs</a:t>
            </a:r>
          </a:p>
          <a:p>
            <a:pPr>
              <a:spcBef>
                <a:spcPts val="600"/>
              </a:spcBef>
              <a:defRPr sz="950">
                <a:solidFill>
                  <a:srgbClr val="CBD5E1"/>
                </a:solidFill>
              </a:defRPr>
            </a:pPr>
            <a:r>
              <a:t>▸ Experiment history benchmarks</a:t>
            </a:r>
          </a:p>
          <a:p>
            <a:pPr>
              <a:spcBef>
                <a:spcPts val="600"/>
              </a:spcBef>
              <a:defRPr sz="950">
                <a:solidFill>
                  <a:srgbClr val="CBD5E1"/>
                </a:solidFill>
              </a:defRPr>
            </a:pPr>
            <a:r>
              <a:t>▸ CSV telemetry data export</a:t>
            </a:r>
          </a:p>
          <a:p>
            <a:pPr>
              <a:spcBef>
                <a:spcPts val="600"/>
              </a:spcBef>
              <a:defRPr sz="950">
                <a:solidFill>
                  <a:srgbClr val="CBD5E1"/>
                </a:solidFill>
              </a:defRPr>
            </a:pPr>
            <a:r>
              <a:t>▸ Printable academic HTML reports</a:t>
            </a:r>
          </a:p>
        </p:txBody>
      </p:sp>
      <p:sp>
        <p:nvSpPr>
          <p:cNvPr id="13" name="Rounded Rectangle 12"/>
          <p:cNvSpPr/>
          <p:nvPr/>
        </p:nvSpPr>
        <p:spPr>
          <a:xfrm>
            <a:off x="731520" y="5577840"/>
            <a:ext cx="10698480" cy="8686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69280"/>
            <a:ext cx="10332720" cy="685800"/>
          </a:xfrm>
          <a:prstGeom prst="rect">
            <a:avLst/>
          </a:prstGeom>
          <a:noFill/>
        </p:spPr>
        <p:txBody>
          <a:bodyPr wrap="square">
            <a:spAutoFit/>
          </a:bodyPr>
          <a:lstStyle/>
          <a:p>
            <a:pPr>
              <a:defRPr b="1" sz="1000">
                <a:solidFill>
                  <a:srgbClr val="38BDF8"/>
                </a:solidFill>
              </a:defRPr>
            </a:pPr>
            <a:r>
              <a:t>Operational Workflow: </a:t>
            </a:r>
          </a:p>
          <a:p>
            <a:pPr>
              <a:defRPr sz="950">
                <a:solidFill>
                  <a:srgbClr val="F8FAFC"/>
                </a:solidFill>
              </a:defRPr>
            </a:pPr>
            <a:r>
              <a:t>User triggers traffic surge → Simulator distributes load across link queues → Detector identifies buffer overflow → Leaky/Token Bucket applies shaping → Comparative metrics persisted to SQLite &amp; displayed on NOC dashboard.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38BDF8"/>
                </a:solidFill>
              </a:defRPr>
            </a:pPr>
            <a:r>
              <a:t>COURSE ALIGNMENT • 25PC1CY201</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Network Algorithms &amp; Syllabus Concept Mapping</a:t>
            </a:r>
          </a:p>
        </p:txBody>
      </p:sp>
      <p:sp>
        <p:nvSpPr>
          <p:cNvPr id="5" name="Rounded Rectangle 4"/>
          <p:cNvSpPr/>
          <p:nvPr/>
        </p:nvSpPr>
        <p:spPr>
          <a:xfrm>
            <a:off x="731520" y="1463040"/>
            <a:ext cx="3429000" cy="47548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63240" cy="4389120"/>
          </a:xfrm>
          <a:prstGeom prst="rect">
            <a:avLst/>
          </a:prstGeom>
          <a:noFill/>
        </p:spPr>
        <p:txBody>
          <a:bodyPr wrap="square">
            <a:spAutoFit/>
          </a:bodyPr>
          <a:lstStyle/>
          <a:p>
            <a:pPr>
              <a:spcAft>
                <a:spcPts val="1000"/>
              </a:spcAft>
              <a:defRPr sz="1300" b="1">
                <a:solidFill>
                  <a:srgbClr val="38BDF8"/>
                </a:solidFill>
              </a:defRPr>
            </a:pPr>
            <a:r>
              <a:t>Leaky Bucket Algorithm (Unit IV)</a:t>
            </a:r>
          </a:p>
          <a:p>
            <a:pPr>
              <a:spcBef>
                <a:spcPts val="600"/>
              </a:spcBef>
              <a:defRPr b="1" sz="1050">
                <a:solidFill>
                  <a:srgbClr val="F8FAFC"/>
                </a:solidFill>
              </a:defRPr>
            </a:pPr>
            <a:r>
              <a:t>• Concept: </a:t>
            </a:r>
          </a:p>
          <a:p>
            <a:pPr>
              <a:defRPr sz="950">
                <a:solidFill>
                  <a:srgbClr val="94A3B8"/>
                </a:solidFill>
              </a:defRPr>
            </a:pPr>
            <a:r>
              <a:t>Shapes bursty input into a smooth, strictly constant output drain rate R.</a:t>
            </a:r>
          </a:p>
          <a:p>
            <a:pPr>
              <a:spcBef>
                <a:spcPts val="600"/>
              </a:spcBef>
              <a:defRPr b="1" sz="1050">
                <a:solidFill>
                  <a:srgbClr val="F8FAFC"/>
                </a:solidFill>
              </a:defRPr>
            </a:pPr>
            <a:r>
              <a:t>• Finite Buffer C: </a:t>
            </a:r>
          </a:p>
          <a:p>
            <a:pPr>
              <a:defRPr sz="950">
                <a:solidFill>
                  <a:srgbClr val="94A3B8"/>
                </a:solidFill>
              </a:defRPr>
            </a:pPr>
            <a:r>
              <a:t>Arriving packets buffer up to bucket capacity C. Excess packet volume is dropped.</a:t>
            </a:r>
          </a:p>
          <a:p>
            <a:pPr>
              <a:spcBef>
                <a:spcPts val="600"/>
              </a:spcBef>
              <a:defRPr b="1" sz="1050">
                <a:solidFill>
                  <a:srgbClr val="F8FAFC"/>
                </a:solidFill>
              </a:defRPr>
            </a:pPr>
            <a:r>
              <a:t>• Queuing Delay: </a:t>
            </a:r>
          </a:p>
          <a:p>
            <a:pPr>
              <a:defRPr sz="950">
                <a:solidFill>
                  <a:srgbClr val="94A3B8"/>
                </a:solidFill>
              </a:defRPr>
            </a:pPr>
            <a:r>
              <a:t>Calculated as fill_level / R, modeling realistic bufferbloat delay.</a:t>
            </a:r>
          </a:p>
          <a:p>
            <a:pPr>
              <a:spcBef>
                <a:spcPts val="600"/>
              </a:spcBef>
              <a:defRPr b="1" sz="1050">
                <a:solidFill>
                  <a:srgbClr val="F8FAFC"/>
                </a:solidFill>
              </a:defRPr>
            </a:pPr>
            <a:r>
              <a:t>• Academic Impact: </a:t>
            </a:r>
          </a:p>
          <a:p>
            <a:pPr>
              <a:defRPr sz="950">
                <a:solidFill>
                  <a:srgbClr val="94A3B8"/>
                </a:solidFill>
              </a:defRPr>
            </a:pPr>
            <a:r>
              <a:t>Eliminates downstream link shock by preventing traffic spikes.</a:t>
            </a:r>
          </a:p>
        </p:txBody>
      </p:sp>
      <p:sp>
        <p:nvSpPr>
          <p:cNvPr id="7" name="Rounded Rectangle 6"/>
          <p:cNvSpPr/>
          <p:nvPr/>
        </p:nvSpPr>
        <p:spPr>
          <a:xfrm>
            <a:off x="4343400" y="1463040"/>
            <a:ext cx="3429000" cy="4754880"/>
          </a:xfrm>
          <a:prstGeom prst="roundRect">
            <a:avLst/>
          </a:prstGeom>
          <a:solidFill>
            <a:srgbClr val="0F172A"/>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45920"/>
            <a:ext cx="3063240" cy="4389120"/>
          </a:xfrm>
          <a:prstGeom prst="rect">
            <a:avLst/>
          </a:prstGeom>
          <a:noFill/>
        </p:spPr>
        <p:txBody>
          <a:bodyPr wrap="square">
            <a:spAutoFit/>
          </a:bodyPr>
          <a:lstStyle/>
          <a:p>
            <a:pPr>
              <a:spcAft>
                <a:spcPts val="1000"/>
              </a:spcAft>
              <a:defRPr sz="1300" b="1">
                <a:solidFill>
                  <a:srgbClr val="6366F1"/>
                </a:solidFill>
              </a:defRPr>
            </a:pPr>
            <a:r>
              <a:t>Token Bucket Algorithm (Unit IV)</a:t>
            </a:r>
          </a:p>
          <a:p>
            <a:pPr>
              <a:spcBef>
                <a:spcPts val="600"/>
              </a:spcBef>
              <a:defRPr b="1" sz="1050">
                <a:solidFill>
                  <a:srgbClr val="F8FAFC"/>
                </a:solidFill>
              </a:defRPr>
            </a:pPr>
            <a:r>
              <a:t>• Token Rate r: </a:t>
            </a:r>
          </a:p>
          <a:p>
            <a:pPr>
              <a:defRPr sz="950">
                <a:solidFill>
                  <a:srgbClr val="94A3B8"/>
                </a:solidFill>
              </a:defRPr>
            </a:pPr>
            <a:r>
              <a:t>Tokens generate at rate r and accumulate up to burst capacity B.</a:t>
            </a:r>
          </a:p>
          <a:p>
            <a:pPr>
              <a:spcBef>
                <a:spcPts val="600"/>
              </a:spcBef>
              <a:defRPr b="1" sz="1050">
                <a:solidFill>
                  <a:srgbClr val="F8FAFC"/>
                </a:solidFill>
              </a:defRPr>
            </a:pPr>
            <a:r>
              <a:t>• Burst Allowance: </a:t>
            </a:r>
          </a:p>
          <a:p>
            <a:pPr>
              <a:defRPr sz="950">
                <a:solidFill>
                  <a:srgbClr val="94A3B8"/>
                </a:solidFill>
              </a:defRPr>
            </a:pPr>
            <a:r>
              <a:t>Allows instantaneous transmission for bursts up to B tokens without delay.</a:t>
            </a:r>
          </a:p>
          <a:p>
            <a:pPr>
              <a:spcBef>
                <a:spcPts val="600"/>
              </a:spcBef>
              <a:defRPr b="1" sz="1050">
                <a:solidFill>
                  <a:srgbClr val="F8FAFC"/>
                </a:solidFill>
              </a:defRPr>
            </a:pPr>
            <a:r>
              <a:t>• Dual Enforcement: </a:t>
            </a:r>
          </a:p>
          <a:p>
            <a:pPr>
              <a:defRPr sz="950">
                <a:solidFill>
                  <a:srgbClr val="94A3B8"/>
                </a:solidFill>
              </a:defRPr>
            </a:pPr>
            <a:r>
              <a:t>Shaping buffers waiting packets; Policing immediately drops non-conforming packets.</a:t>
            </a:r>
          </a:p>
          <a:p>
            <a:pPr>
              <a:spcBef>
                <a:spcPts val="600"/>
              </a:spcBef>
              <a:defRPr b="1" sz="1050">
                <a:solidFill>
                  <a:srgbClr val="F8FAFC"/>
                </a:solidFill>
              </a:defRPr>
            </a:pPr>
            <a:r>
              <a:t>• Academic Impact: </a:t>
            </a:r>
          </a:p>
          <a:p>
            <a:pPr>
              <a:defRPr sz="950">
                <a:solidFill>
                  <a:srgbClr val="94A3B8"/>
                </a:solidFill>
              </a:defRPr>
            </a:pPr>
            <a:r>
              <a:t>Accommodates legitimate bursts while strictly capping sustained load.</a:t>
            </a:r>
          </a:p>
        </p:txBody>
      </p:sp>
      <p:sp>
        <p:nvSpPr>
          <p:cNvPr id="9" name="Rounded Rectangle 8"/>
          <p:cNvSpPr/>
          <p:nvPr/>
        </p:nvSpPr>
        <p:spPr>
          <a:xfrm>
            <a:off x="7955279" y="1463040"/>
            <a:ext cx="3474720" cy="475488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645920"/>
            <a:ext cx="3108960" cy="4389120"/>
          </a:xfrm>
          <a:prstGeom prst="rect">
            <a:avLst/>
          </a:prstGeom>
          <a:noFill/>
        </p:spPr>
        <p:txBody>
          <a:bodyPr wrap="square">
            <a:spAutoFit/>
          </a:bodyPr>
          <a:lstStyle/>
          <a:p>
            <a:pPr>
              <a:spcAft>
                <a:spcPts val="1000"/>
              </a:spcAft>
              <a:defRPr sz="1300" b="1">
                <a:solidFill>
                  <a:srgbClr val="34D399"/>
                </a:solidFill>
              </a:defRPr>
            </a:pPr>
            <a:r>
              <a:t>QoS &amp; CN Syllabus Mapping</a:t>
            </a:r>
          </a:p>
          <a:p>
            <a:pPr>
              <a:spcBef>
                <a:spcPts val="600"/>
              </a:spcBef>
              <a:defRPr b="1" sz="1050">
                <a:solidFill>
                  <a:srgbClr val="F8FAFC"/>
                </a:solidFill>
              </a:defRPr>
            </a:pPr>
            <a:r>
              <a:t>• Strict Priority Queuing: </a:t>
            </a:r>
          </a:p>
          <a:p>
            <a:pPr>
              <a:defRPr sz="950">
                <a:solidFill>
                  <a:srgbClr val="94A3B8"/>
                </a:solidFill>
              </a:defRPr>
            </a:pPr>
            <a:r>
              <a:t>High (Voice/Video) gets 0 drops and zero queueing delay, while Low (Bulk) absorbs drops.</a:t>
            </a:r>
          </a:p>
          <a:p>
            <a:pPr>
              <a:spcBef>
                <a:spcPts val="600"/>
              </a:spcBef>
              <a:defRPr b="1" sz="1050">
                <a:solidFill>
                  <a:srgbClr val="F8FAFC"/>
                </a:solidFill>
              </a:defRPr>
            </a:pPr>
            <a:r>
              <a:t>• Unit I (Physical/LAN): </a:t>
            </a:r>
          </a:p>
          <a:p>
            <a:pPr>
              <a:defRPr sz="950">
                <a:solidFill>
                  <a:srgbClr val="94A3B8"/>
                </a:solidFill>
              </a:defRPr>
            </a:pPr>
            <a:r>
              <a:t>Campus topologies, bandwidth limits, and link propagation delay.</a:t>
            </a:r>
          </a:p>
          <a:p>
            <a:pPr>
              <a:spcBef>
                <a:spcPts val="600"/>
              </a:spcBef>
              <a:defRPr b="1" sz="1050">
                <a:solidFill>
                  <a:srgbClr val="F8FAFC"/>
                </a:solidFill>
              </a:defRPr>
            </a:pPr>
            <a:r>
              <a:t>• Unit II &amp; III (VLANs/Queues): </a:t>
            </a:r>
          </a:p>
          <a:p>
            <a:pPr>
              <a:defRPr sz="950">
                <a:solidFill>
                  <a:srgbClr val="94A3B8"/>
                </a:solidFill>
              </a:defRPr>
            </a:pPr>
            <a:r>
              <a:t>Queue buffer overflow and department VLAN segmentation (VLAN 10 to 50).</a:t>
            </a:r>
          </a:p>
          <a:p>
            <a:pPr>
              <a:spcBef>
                <a:spcPts val="600"/>
              </a:spcBef>
              <a:defRPr b="1" sz="1050">
                <a:solidFill>
                  <a:srgbClr val="F8FAFC"/>
                </a:solidFill>
              </a:defRPr>
            </a:pPr>
            <a:r>
              <a:t>• Lab Week 10 &amp; 12-13: </a:t>
            </a:r>
          </a:p>
          <a:p>
            <a:pPr>
              <a:defRPr sz="950">
                <a:solidFill>
                  <a:srgbClr val="94A3B8"/>
                </a:solidFill>
              </a:defRPr>
            </a:pPr>
            <a:r>
              <a:t>Mirrors Wireshark protocol distributions and Cisco Packet Tracer network simulation.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38BDF8"/>
                </a:solidFill>
              </a:defRPr>
            </a:pPr>
            <a:r>
              <a:t>VALIDATION &amp; BENCHMARKS</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Live Prototype Demonstration &amp; Measured Results</a:t>
            </a:r>
          </a:p>
        </p:txBody>
      </p:sp>
      <p:sp>
        <p:nvSpPr>
          <p:cNvPr id="5" name="Rounded Rectangle 4"/>
          <p:cNvSpPr/>
          <p:nvPr/>
        </p:nvSpPr>
        <p:spPr>
          <a:xfrm>
            <a:off x="731520" y="1371600"/>
            <a:ext cx="10698480" cy="73152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332720" cy="548640"/>
          </a:xfrm>
          <a:prstGeom prst="rect">
            <a:avLst/>
          </a:prstGeom>
          <a:noFill/>
        </p:spPr>
        <p:txBody>
          <a:bodyPr wrap="square">
            <a:spAutoFit/>
          </a:bodyPr>
          <a:lstStyle/>
          <a:p>
            <a:pPr>
              <a:defRPr sz="1100" b="1">
                <a:solidFill>
                  <a:srgbClr val="CBD5E1"/>
                </a:solidFill>
              </a:defRPr>
            </a:pPr>
            <a:r>
              <a:t>Deployed Prototype URL: </a:t>
            </a:r>
          </a:p>
          <a:p>
            <a:r>
              <a:rPr sz="1400" b="1" u="sng">
                <a:solidFill>
                  <a:srgbClr val="38BDF8"/>
                </a:solidFill>
                <a:hlinkClick r:id="rId2"/>
              </a:rPr>
              <a:t>https://campusnet-monitor.onrender.com/</a:t>
            </a:r>
          </a:p>
        </p:txBody>
      </p:sp>
      <p:sp>
        <p:nvSpPr>
          <p:cNvPr id="7" name="Rounded Rectangle 6"/>
          <p:cNvSpPr/>
          <p:nvPr/>
        </p:nvSpPr>
        <p:spPr>
          <a:xfrm>
            <a:off x="731520" y="2240280"/>
            <a:ext cx="6035040" cy="411480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77440"/>
            <a:ext cx="5669280" cy="3840480"/>
          </a:xfrm>
          <a:prstGeom prst="rect">
            <a:avLst/>
          </a:prstGeom>
          <a:noFill/>
        </p:spPr>
        <p:txBody>
          <a:bodyPr wrap="square">
            <a:spAutoFit/>
          </a:bodyPr>
          <a:lstStyle/>
          <a:p>
            <a:pPr>
              <a:spcAft>
                <a:spcPts val="1000"/>
              </a:spcAft>
              <a:defRPr sz="1300" b="1">
                <a:solidFill>
                  <a:srgbClr val="38BDF8"/>
                </a:solidFill>
              </a:defRPr>
            </a:pPr>
            <a:r>
              <a:t>Empirical Before-and-After Comparison (20-Tick Burst)</a:t>
            </a:r>
          </a:p>
          <a:p>
            <a:pPr>
              <a:spcBef>
                <a:spcPts val="400"/>
              </a:spcBef>
              <a:defRPr b="1" sz="950">
                <a:solidFill>
                  <a:srgbClr val="FBBF24"/>
                </a:solidFill>
              </a:defRPr>
            </a:pPr>
            <a:r>
              <a:t>Metric                 | Baseline (FIFO) | Controlled (Shaping) | Result</a:t>
            </a:r>
          </a:p>
          <a:p>
            <a:pPr>
              <a:spcBef>
                <a:spcPts val="400"/>
              </a:spcBef>
              <a:defRPr sz="950">
                <a:solidFill>
                  <a:srgbClr val="F8FAFC"/>
                </a:solidFill>
              </a:defRPr>
            </a:pPr>
            <a:r>
              <a:t>• Delivered Throughput: 64.2 Mbps → 88.6 Mbps [+38.0% (Improved)]</a:t>
            </a:r>
          </a:p>
          <a:p>
            <a:pPr>
              <a:spcBef>
                <a:spcPts val="400"/>
              </a:spcBef>
              <a:defRPr sz="950">
                <a:solidFill>
                  <a:srgbClr val="F8FAFC"/>
                </a:solidFill>
              </a:defRPr>
            </a:pPr>
            <a:r>
              <a:t>• Average Latency     : 52.4 ms → 14.8 ms [-71.8% (Improved)]</a:t>
            </a:r>
          </a:p>
          <a:p>
            <a:pPr>
              <a:spcBef>
                <a:spcPts val="400"/>
              </a:spcBef>
              <a:defRPr sz="950">
                <a:solidFill>
                  <a:srgbClr val="F8FAFC"/>
                </a:solidFill>
              </a:defRPr>
            </a:pPr>
            <a:r>
              <a:t>• Simulated Packet Loss: 18.2% → 2.4% [-86.8% (Improved)]</a:t>
            </a:r>
          </a:p>
          <a:p>
            <a:pPr>
              <a:spcBef>
                <a:spcPts val="400"/>
              </a:spcBef>
              <a:defRPr sz="950">
                <a:solidFill>
                  <a:srgbClr val="F8FAFC"/>
                </a:solidFill>
              </a:defRPr>
            </a:pPr>
            <a:r>
              <a:t>• Peak Queue Buffer   : 80 pkts (100%) → 22 pkts (27%) [Bufferbloat Solved]</a:t>
            </a:r>
          </a:p>
          <a:p>
            <a:pPr>
              <a:spcBef>
                <a:spcPts val="400"/>
              </a:spcBef>
              <a:defRPr sz="950">
                <a:solidFill>
                  <a:srgbClr val="F8FAFC"/>
                </a:solidFill>
              </a:defRPr>
            </a:pPr>
            <a:r>
              <a:t>• Congested Links     : 2 Links (Critical) → 0 Links (Clear) [All Normal]</a:t>
            </a:r>
          </a:p>
        </p:txBody>
      </p:sp>
      <p:sp>
        <p:nvSpPr>
          <p:cNvPr id="9" name="Rounded Rectangle 8"/>
          <p:cNvSpPr/>
          <p:nvPr/>
        </p:nvSpPr>
        <p:spPr>
          <a:xfrm>
            <a:off x="7040880" y="2240280"/>
            <a:ext cx="4389120" cy="411480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0" y="2377440"/>
            <a:ext cx="4023360" cy="3840480"/>
          </a:xfrm>
          <a:prstGeom prst="rect">
            <a:avLst/>
          </a:prstGeom>
          <a:noFill/>
        </p:spPr>
        <p:txBody>
          <a:bodyPr wrap="square">
            <a:spAutoFit/>
          </a:bodyPr>
          <a:lstStyle/>
          <a:p>
            <a:pPr>
              <a:spcAft>
                <a:spcPts val="1000"/>
              </a:spcAft>
              <a:defRPr sz="1300" b="1">
                <a:solidFill>
                  <a:srgbClr val="34D399"/>
                </a:solidFill>
              </a:defRPr>
            </a:pPr>
            <a:r>
              <a:t>Demonstration Highlights</a:t>
            </a:r>
          </a:p>
          <a:p>
            <a:pPr>
              <a:spcBef>
                <a:spcPts val="400"/>
              </a:spcBef>
              <a:defRPr b="1" sz="1000">
                <a:solidFill>
                  <a:srgbClr val="F8FAFC"/>
                </a:solidFill>
              </a:defRPr>
            </a:pPr>
            <a:r>
              <a:t>✔ Interactive Topology: </a:t>
            </a:r>
          </a:p>
          <a:p>
            <a:pPr>
              <a:defRPr sz="900">
                <a:solidFill>
                  <a:srgbClr val="94A3B8"/>
                </a:solidFill>
              </a:defRPr>
            </a:pPr>
            <a:r>
              <a:t>Click any link to inspect load, queue buffer, and modify bandwidth capacities in real time.</a:t>
            </a:r>
          </a:p>
          <a:p>
            <a:pPr>
              <a:spcBef>
                <a:spcPts val="400"/>
              </a:spcBef>
              <a:defRPr b="1" sz="1000">
                <a:solidFill>
                  <a:srgbClr val="F8FAFC"/>
                </a:solidFill>
              </a:defRPr>
            </a:pPr>
            <a:r>
              <a:t>✔ Dynamic Traffic Surges: </a:t>
            </a:r>
          </a:p>
          <a:p>
            <a:pPr>
              <a:defRPr sz="900">
                <a:solidFill>
                  <a:srgbClr val="94A3B8"/>
                </a:solidFill>
              </a:defRPr>
            </a:pPr>
            <a:r>
              <a:t>Simulate student registration spikes (2.5x to 4.0x) on departmental switches.</a:t>
            </a:r>
          </a:p>
          <a:p>
            <a:pPr>
              <a:spcBef>
                <a:spcPts val="400"/>
              </a:spcBef>
              <a:defRPr b="1" sz="1000">
                <a:solidFill>
                  <a:srgbClr val="F8FAFC"/>
                </a:solidFill>
              </a:defRPr>
            </a:pPr>
            <a:r>
              <a:t>✔ Hysteresis Alerting: </a:t>
            </a:r>
          </a:p>
          <a:p>
            <a:pPr>
              <a:defRPr sz="900">
                <a:solidFill>
                  <a:srgbClr val="94A3B8"/>
                </a:solidFill>
              </a:defRPr>
            </a:pPr>
            <a:r>
              <a:t>Prevents alert flapping by requiring 2 consecutive overloaded ticks before triggering red alarms.</a:t>
            </a:r>
          </a:p>
          <a:p>
            <a:pPr>
              <a:spcBef>
                <a:spcPts val="400"/>
              </a:spcBef>
              <a:defRPr b="1" sz="1000">
                <a:solidFill>
                  <a:srgbClr val="F8FAFC"/>
                </a:solidFill>
              </a:defRPr>
            </a:pPr>
            <a:r>
              <a:t>✔ One-Click Experiments: </a:t>
            </a:r>
          </a:p>
          <a:p>
            <a:pPr>
              <a:defRPr sz="900">
                <a:solidFill>
                  <a:srgbClr val="94A3B8"/>
                </a:solidFill>
              </a:defRPr>
            </a:pPr>
            <a:r>
              <a:t>Runs identical random-seed workloads for rigorous scientific comparison.</a:t>
            </a:r>
          </a:p>
          <a:p>
            <a:pPr>
              <a:spcBef>
                <a:spcPts val="400"/>
              </a:spcBef>
              <a:defRPr b="1" sz="1000">
                <a:solidFill>
                  <a:srgbClr val="F8FAFC"/>
                </a:solidFill>
              </a:defRPr>
            </a:pPr>
            <a:r>
              <a:t>✔ Automated Reporting: </a:t>
            </a:r>
          </a:p>
          <a:p>
            <a:pPr>
              <a:defRPr sz="900">
                <a:solidFill>
                  <a:srgbClr val="94A3B8"/>
                </a:solidFill>
              </a:defRPr>
            </a:pPr>
            <a:r>
              <a:t>Instant CSV telemetry and printable HTML academic reports for documentation.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38BDF8"/>
                </a:solidFill>
              </a:defRPr>
            </a:pPr>
            <a:r>
              <a:t>SUMMARY &amp; FUTURE SCOPE</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Conclusion, Key Learnings &amp; Future Enhancements</a:t>
            </a:r>
          </a:p>
        </p:txBody>
      </p:sp>
      <p:sp>
        <p:nvSpPr>
          <p:cNvPr id="5" name="Rounded Rectangle 4"/>
          <p:cNvSpPr/>
          <p:nvPr/>
        </p:nvSpPr>
        <p:spPr>
          <a:xfrm>
            <a:off x="731520" y="1463040"/>
            <a:ext cx="5120640" cy="47548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572000" cy="4389120"/>
          </a:xfrm>
          <a:prstGeom prst="rect">
            <a:avLst/>
          </a:prstGeom>
          <a:noFill/>
        </p:spPr>
        <p:txBody>
          <a:bodyPr wrap="square">
            <a:spAutoFit/>
          </a:bodyPr>
          <a:lstStyle/>
          <a:p>
            <a:pPr>
              <a:spcAft>
                <a:spcPts val="1200"/>
              </a:spcAft>
              <a:defRPr sz="1400" b="1">
                <a:solidFill>
                  <a:srgbClr val="38BDF8"/>
                </a:solidFill>
              </a:defRPr>
            </a:pPr>
            <a:r>
              <a:t>Key Project Outcomes &amp; Learnings</a:t>
            </a:r>
          </a:p>
          <a:p>
            <a:pPr>
              <a:spcBef>
                <a:spcPts val="600"/>
              </a:spcBef>
              <a:defRPr b="1" sz="1050">
                <a:solidFill>
                  <a:srgbClr val="F8FAFC"/>
                </a:solidFill>
              </a:defRPr>
            </a:pPr>
            <a:r>
              <a:t>✔ Curriculum Synthesis: </a:t>
            </a:r>
          </a:p>
          <a:p>
            <a:pPr>
              <a:defRPr sz="950">
                <a:solidFill>
                  <a:srgbClr val="94A3B8"/>
                </a:solidFill>
              </a:defRPr>
            </a:pPr>
            <a:r>
              <a:t>Applied theoretical concepts of queues, link utilization, Leaky/Token Bucket, and DiffServ QoS into a functional full-stack application.</a:t>
            </a:r>
          </a:p>
          <a:p>
            <a:pPr>
              <a:spcBef>
                <a:spcPts val="600"/>
              </a:spcBef>
              <a:defRPr b="1" sz="1050">
                <a:solidFill>
                  <a:srgbClr val="F8FAFC"/>
                </a:solidFill>
              </a:defRPr>
            </a:pPr>
            <a:r>
              <a:t>✔ Bufferbloat Mitigation: </a:t>
            </a:r>
          </a:p>
          <a:p>
            <a:pPr>
              <a:defRPr sz="950">
                <a:solidFill>
                  <a:srgbClr val="94A3B8"/>
                </a:solidFill>
              </a:defRPr>
            </a:pPr>
            <a:r>
              <a:t>Empirically demonstrated how traffic shaping stabilizes buffer occupancy, significantly cutting down latency under extreme load.</a:t>
            </a:r>
          </a:p>
          <a:p>
            <a:pPr>
              <a:spcBef>
                <a:spcPts val="600"/>
              </a:spcBef>
              <a:defRPr b="1" sz="1050">
                <a:solidFill>
                  <a:srgbClr val="F8FAFC"/>
                </a:solidFill>
              </a:defRPr>
            </a:pPr>
            <a:r>
              <a:t>✔ Hysteresis Significance: </a:t>
            </a:r>
          </a:p>
          <a:p>
            <a:pPr>
              <a:defRPr sz="950">
                <a:solidFill>
                  <a:srgbClr val="94A3B8"/>
                </a:solidFill>
              </a:defRPr>
            </a:pPr>
            <a:r>
              <a:t>Demonstrated why hysteresis windows are vital in network monitoring to prevent transient alert noise and notification fatigue.</a:t>
            </a:r>
          </a:p>
          <a:p>
            <a:pPr>
              <a:spcBef>
                <a:spcPts val="600"/>
              </a:spcBef>
              <a:defRPr b="1" sz="1050">
                <a:solidFill>
                  <a:srgbClr val="F8FAFC"/>
                </a:solidFill>
              </a:defRPr>
            </a:pPr>
            <a:r>
              <a:t>✔ Reproducible Science: </a:t>
            </a:r>
          </a:p>
          <a:p>
            <a:pPr>
              <a:defRPr sz="950">
                <a:solidFill>
                  <a:srgbClr val="94A3B8"/>
                </a:solidFill>
              </a:defRPr>
            </a:pPr>
            <a:r>
              <a:t>Established an automated 1-click testbed that evaluates networking algorithms under identical initial conditions.</a:t>
            </a:r>
          </a:p>
        </p:txBody>
      </p:sp>
      <p:sp>
        <p:nvSpPr>
          <p:cNvPr id="7" name="Rounded Rectangle 6"/>
          <p:cNvSpPr/>
          <p:nvPr/>
        </p:nvSpPr>
        <p:spPr>
          <a:xfrm>
            <a:off x="6217920" y="1463040"/>
            <a:ext cx="5212080" cy="4754880"/>
          </a:xfrm>
          <a:prstGeom prst="roundRect">
            <a:avLst/>
          </a:prstGeom>
          <a:solidFill>
            <a:srgbClr val="0F172A"/>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663440" cy="4389120"/>
          </a:xfrm>
          <a:prstGeom prst="rect">
            <a:avLst/>
          </a:prstGeom>
          <a:noFill/>
        </p:spPr>
        <p:txBody>
          <a:bodyPr wrap="square">
            <a:spAutoFit/>
          </a:bodyPr>
          <a:lstStyle/>
          <a:p>
            <a:pPr>
              <a:spcAft>
                <a:spcPts val="1200"/>
              </a:spcAft>
              <a:defRPr sz="1400" b="1">
                <a:solidFill>
                  <a:srgbClr val="6366F1"/>
                </a:solidFill>
              </a:defRPr>
            </a:pPr>
            <a:r>
              <a:t>Future Scope &amp; Real-World Extensions</a:t>
            </a:r>
          </a:p>
          <a:p>
            <a:pPr>
              <a:spcBef>
                <a:spcPts val="600"/>
              </a:spcBef>
              <a:defRPr b="1" sz="1050">
                <a:solidFill>
                  <a:srgbClr val="F8FAFC"/>
                </a:solidFill>
              </a:defRPr>
            </a:pPr>
            <a:r>
              <a:t>🚀 Software-Defined Networking (SDN): </a:t>
            </a:r>
          </a:p>
          <a:p>
            <a:pPr>
              <a:defRPr sz="950">
                <a:solidFill>
                  <a:srgbClr val="94A3B8"/>
                </a:solidFill>
              </a:defRPr>
            </a:pPr>
            <a:r>
              <a:t>Interface with OpenFlow switches or Mininet controllers to push dynamic flow rules into real Linux virtual switches.</a:t>
            </a:r>
          </a:p>
          <a:p>
            <a:pPr>
              <a:spcBef>
                <a:spcPts val="600"/>
              </a:spcBef>
              <a:defRPr b="1" sz="1050">
                <a:solidFill>
                  <a:srgbClr val="F8FAFC"/>
                </a:solidFill>
              </a:defRPr>
            </a:pPr>
            <a:r>
              <a:t>🚀 Machine Learning Forecasting: </a:t>
            </a:r>
          </a:p>
          <a:p>
            <a:pPr>
              <a:defRPr sz="950">
                <a:solidFill>
                  <a:srgbClr val="94A3B8"/>
                </a:solidFill>
              </a:defRPr>
            </a:pPr>
            <a:r>
              <a:t>Deploy LSTM / ARIMA neural models to forecast campus congestion 5–10 minutes before registration bursts occur.</a:t>
            </a:r>
          </a:p>
          <a:p>
            <a:pPr>
              <a:spcBef>
                <a:spcPts val="600"/>
              </a:spcBef>
              <a:defRPr b="1" sz="1050">
                <a:solidFill>
                  <a:srgbClr val="F8FAFC"/>
                </a:solidFill>
              </a:defRPr>
            </a:pPr>
            <a:r>
              <a:t>🚀 Linux tc (Traffic Control) Kernel Module: </a:t>
            </a:r>
          </a:p>
          <a:p>
            <a:pPr>
              <a:defRPr sz="950">
                <a:solidFill>
                  <a:srgbClr val="94A3B8"/>
                </a:solidFill>
              </a:defRPr>
            </a:pPr>
            <a:r>
              <a:t>Integrate with Linux kernel tc qdisc to enforce token bucket filters directly on physical Ethernet interfaces.</a:t>
            </a:r>
          </a:p>
          <a:p>
            <a:pPr>
              <a:spcBef>
                <a:spcPts val="600"/>
              </a:spcBef>
              <a:defRPr b="1" sz="1050">
                <a:solidFill>
                  <a:srgbClr val="F8FAFC"/>
                </a:solidFill>
              </a:defRPr>
            </a:pPr>
            <a:r>
              <a:t>🚀 Automated Dynamic QoS: </a:t>
            </a:r>
          </a:p>
          <a:p>
            <a:pPr>
              <a:defRPr sz="950">
                <a:solidFill>
                  <a:srgbClr val="94A3B8"/>
                </a:solidFill>
              </a:defRPr>
            </a:pPr>
            <a:r>
              <a:t>Automatically allocate bandwidth priority to active Zoom/Teams RTP packets via deep packet inspection (DPI).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